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embeddedFontLst>
    <p:embeddedFont>
      <p:font typeface="Georgia" panose="02040502050405020303" pitchFamily="18" charset="0"/>
      <p:regular r:id="rId24"/>
      <p:bold r:id="rId25"/>
      <p:italic r:id="rId26"/>
      <p:boldItalic r:id="rId27"/>
    </p:embeddedFont>
    <p:embeddedFont>
      <p:font typeface="Lora" pitchFamily="2" charset="77"/>
      <p:regular r:id="rId28"/>
      <p:bold r:id="rId29"/>
      <p:italic r:id="rId30"/>
      <p:boldItalic r:id="rId31"/>
    </p:embeddedFont>
    <p:embeddedFont>
      <p:font typeface="Rockwell" panose="02060603020205020403" pitchFamily="18" charset="77"/>
      <p:regular r:id="rId32"/>
      <p:bold r:id="rId33"/>
      <p:italic r:id="rId34"/>
      <p:boldItalic r:id="rId3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/>
    <p:restoredTop sz="94660"/>
  </p:normalViewPr>
  <p:slideViewPr>
    <p:cSldViewPr snapToGrid="0">
      <p:cViewPr varScale="1">
        <p:scale>
          <a:sx n="129" d="100"/>
          <a:sy n="129" d="100"/>
        </p:scale>
        <p:origin x="200" y="6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" name="Google Shape;3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cb51d3f016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cb51d3f016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f7ec16bd6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f7ec16bd6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f7ec16bd68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f7ec16bd68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f7ec16bd68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f7ec16bd68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cb51d3f01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cb51d3f01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f7ec16bd68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f7ec16bd68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cb51d3f016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cb51d3f016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b51d3f016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b51d3f016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cb51d3f016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cb51d3f016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cb51d3f016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cb51d3f016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f7ec16bd68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f7ec16bd68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cb51d3f016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cb51d3f016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cb51d3f016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cb51d3f016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cb51d3f01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cb51d3f01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cb51d3f016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cb51d3f016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cb51d3f016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cb51d3f016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cb51d3f016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cb51d3f016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cb51d3f016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cb51d3f016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cb51d3f016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cb51d3f016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cb51d3f016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cb51d3f016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247255" y="-44532"/>
            <a:ext cx="9386888" cy="5192849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251970" y="889862"/>
            <a:ext cx="6636259" cy="3358450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9427" y="1556628"/>
            <a:ext cx="6509936" cy="1311547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050" spc="-113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9428" y="2929700"/>
            <a:ext cx="6505070" cy="99194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35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>
            <a:lvl1pPr algn="ctr">
              <a:defRPr/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550165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2444"/>
            <a:ext cx="2624234" cy="184233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8835" y="602389"/>
            <a:ext cx="4711405" cy="3936467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C4825-5FEB-A643-9093-943BD90F553F}" type="datetimeFigureOut">
              <a:rPr lang="en-US" smtClean="0"/>
              <a:t>2/5/24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2361344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247255" y="-44532"/>
            <a:ext cx="9386888" cy="5192849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2444659" y="889862"/>
            <a:ext cx="4249609" cy="3358450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8162" y="1556047"/>
            <a:ext cx="4117668" cy="1267043"/>
          </a:xfrm>
        </p:spPr>
        <p:txBody>
          <a:bodyPr bIns="0" anchor="b">
            <a:normAutofit/>
          </a:bodyPr>
          <a:lstStyle>
            <a:lvl1pPr algn="ctr">
              <a:defRPr sz="330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08162" y="2885138"/>
            <a:ext cx="4117667" cy="1037828"/>
          </a:xfrm>
        </p:spPr>
        <p:txBody>
          <a:bodyPr tIns="0">
            <a:normAutofit/>
          </a:bodyPr>
          <a:lstStyle>
            <a:lvl1pPr marL="0" indent="0" algn="ctr">
              <a:buNone/>
              <a:defRPr sz="1350">
                <a:solidFill>
                  <a:srgbClr val="FFFEFF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428C4825-5FEB-A643-9093-943BD90F553F}" type="datetimeFigureOut">
              <a:rPr lang="en-US" smtClean="0"/>
              <a:t>2/5/24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3398198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0" y="1754752"/>
            <a:ext cx="2625621" cy="1852549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40659" y="602391"/>
            <a:ext cx="4702193" cy="17869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38835" y="2754121"/>
            <a:ext cx="4704017" cy="178769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428C4825-5FEB-A643-9093-943BD90F553F}" type="datetimeFigureOut">
              <a:rPr lang="en-US" smtClean="0"/>
              <a:t>2/5/24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1324328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751" y="1772937"/>
            <a:ext cx="2625621" cy="1845373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43853" y="602389"/>
            <a:ext cx="4698816" cy="51435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43978" y="1116739"/>
            <a:ext cx="4698263" cy="127264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38989" y="2749415"/>
            <a:ext cx="4698311" cy="51435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38835" y="3263765"/>
            <a:ext cx="4699191" cy="127804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428C4825-5FEB-A643-9093-943BD90F553F}" type="datetimeFigureOut">
              <a:rPr lang="en-US" smtClean="0"/>
              <a:t>2/5/24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5042858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2444"/>
            <a:ext cx="2625897" cy="184233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C4825-5FEB-A643-9093-943BD90F553F}" type="datetimeFigureOut">
              <a:rPr lang="en-US" smtClean="0"/>
              <a:t>2/5/24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3270607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428C4825-5FEB-A643-9093-943BD90F553F}" type="datetimeFigureOut">
              <a:rPr lang="en-US" smtClean="0"/>
              <a:t>2/5/24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8944780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4019"/>
            <a:ext cx="2625898" cy="917474"/>
          </a:xfrm>
        </p:spPr>
        <p:txBody>
          <a:bodyPr bIns="0" anchor="b">
            <a:noAutofit/>
          </a:bodyPr>
          <a:lstStyle>
            <a:lvl1pPr algn="ctr">
              <a:defRPr sz="240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2488" y="602107"/>
            <a:ext cx="4706276" cy="3937455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6474" y="2685140"/>
            <a:ext cx="2625898" cy="915873"/>
          </a:xfrm>
        </p:spPr>
        <p:txBody>
          <a:bodyPr/>
          <a:lstStyle>
            <a:lvl1pPr marL="0" indent="0" algn="ctr">
              <a:buNone/>
              <a:defRPr sz="12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C4825-5FEB-A643-9093-943BD90F553F}" type="datetimeFigureOut">
              <a:rPr lang="en-US" smtClean="0"/>
              <a:t>2/5/24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6566562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247255" y="-44532"/>
            <a:ext cx="9386888" cy="5192849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604002" y="1273749"/>
            <a:ext cx="4456155" cy="2602816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7632" y="0"/>
            <a:ext cx="3486368" cy="51435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4082" y="1770191"/>
            <a:ext cx="4332485" cy="883524"/>
          </a:xfrm>
        </p:spPr>
        <p:txBody>
          <a:bodyPr bIns="0" anchor="b">
            <a:normAutofit/>
          </a:bodyPr>
          <a:lstStyle>
            <a:lvl1pPr>
              <a:defRPr sz="270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4082" y="2658759"/>
            <a:ext cx="4332485" cy="955649"/>
          </a:xfrm>
        </p:spPr>
        <p:txBody>
          <a:bodyPr>
            <a:normAutofit/>
          </a:bodyPr>
          <a:lstStyle>
            <a:lvl1pPr marL="0" indent="0" algn="ctr">
              <a:buNone/>
              <a:defRPr sz="135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428C4825-5FEB-A643-9093-943BD90F553F}" type="datetimeFigureOut">
              <a:rPr lang="en-US" smtClean="0"/>
              <a:t>2/5/24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4456652" cy="24003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71283" y="240030"/>
            <a:ext cx="685800" cy="24003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6302307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313135" y="0"/>
            <a:ext cx="9438086" cy="5139929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600108" y="1274692"/>
            <a:ext cx="2755857" cy="2602816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474" y="1762444"/>
            <a:ext cx="2625897" cy="184233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32488" y="596039"/>
            <a:ext cx="4706276" cy="394281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C4825-5FEB-A643-9093-943BD90F553F}" type="datetimeFigureOut">
              <a:rPr lang="en-US" smtClean="0"/>
              <a:t>2/5/24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5670499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9438086" cy="5139929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5789211" y="1274692"/>
            <a:ext cx="2755857" cy="2602816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55578" y="1762444"/>
            <a:ext cx="2625896" cy="184233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2060" y="598834"/>
            <a:ext cx="4701467" cy="394297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3504" y="240030"/>
            <a:ext cx="2743200" cy="240030"/>
          </a:xfrm>
        </p:spPr>
        <p:txBody>
          <a:bodyPr/>
          <a:lstStyle/>
          <a:p>
            <a:fld id="{428C4825-5FEB-A643-9093-943BD90F553F}" type="datetimeFigureOut">
              <a:rPr lang="en-US" smtClean="0"/>
              <a:t>2/5/24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3504" y="4670298"/>
            <a:ext cx="7941564" cy="24003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2410" y="240030"/>
            <a:ext cx="685800" cy="24003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1314455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tandard header only">
  <p:cSld name="2_Standard header 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533180" y="89320"/>
            <a:ext cx="8077500" cy="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946731" y="4767262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575" tIns="19275" rIns="38575" bIns="19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533180" y="933253"/>
            <a:ext cx="8077500" cy="28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874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8371" y="1768794"/>
            <a:ext cx="2624000" cy="1842364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76237" y="596039"/>
            <a:ext cx="4462527" cy="3942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3504" y="240030"/>
            <a:ext cx="2743200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8C4825-5FEB-A643-9093-943BD90F553F}" type="datetimeFigureOut">
              <a:rPr lang="en-US" smtClean="0"/>
              <a:t>2/5/24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3504" y="4670298"/>
            <a:ext cx="7941564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52410" y="240030"/>
            <a:ext cx="685800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49509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</p:sldLayoutIdLst>
  <p:hf sldNum="0" hdr="0" ftr="0" dt="0"/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0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35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05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nlp.stanford.edu/pubs/glove.pdf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arxiv.org/abs/1810.04805" TargetMode="External"/><Relationship Id="rId4" Type="http://schemas.openxmlformats.org/officeDocument/2006/relationships/hyperlink" Target="https://arxiv.org/abs/1802.05365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Error Machine</a:t>
            </a:r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51425" tIns="51425" rIns="51425" bIns="5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 Architecture</a:t>
            </a:r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" name="Google Shape;44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117600"/>
            <a:ext cx="8867775" cy="348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51425" tIns="51425" rIns="51425" bIns="5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</a:t>
            </a:r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1" name="Google Shape;5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25" y="863550"/>
            <a:ext cx="8520600" cy="363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51425" tIns="51425" rIns="51425" bIns="5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 Extraction</a:t>
            </a:r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" name="Google Shape;58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100" y="929575"/>
            <a:ext cx="8038575" cy="350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51425" tIns="51425" rIns="51425" bIns="5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 Notify Extraction</a:t>
            </a:r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" name="Google Shape;65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025" y="863550"/>
            <a:ext cx="8447975" cy="358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51425" tIns="51425" rIns="51425" bIns="5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 PreProcessing</a:t>
            </a:r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body" idx="1"/>
          </p:nvPr>
        </p:nvSpPr>
        <p:spPr>
          <a:xfrm>
            <a:off x="533175" y="933250"/>
            <a:ext cx="8077500" cy="22851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2" name="Google Shape;72;p11"/>
          <p:cNvPicPr preferRelativeResize="0"/>
          <p:nvPr/>
        </p:nvPicPr>
        <p:blipFill rotWithShape="1">
          <a:blip r:embed="rId3">
            <a:alphaModFix/>
          </a:blip>
          <a:srcRect r="-2637"/>
          <a:stretch/>
        </p:blipFill>
        <p:spPr>
          <a:xfrm>
            <a:off x="604300" y="1363077"/>
            <a:ext cx="7904526" cy="162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51425" tIns="51425" rIns="51425" bIns="5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 PreProcessing</a:t>
            </a:r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body" idx="1"/>
          </p:nvPr>
        </p:nvSpPr>
        <p:spPr>
          <a:xfrm>
            <a:off x="533175" y="933249"/>
            <a:ext cx="8077500" cy="3578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9" name="Google Shape;79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175" y="1445125"/>
            <a:ext cx="8077501" cy="259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51425" tIns="51425" rIns="51425" bIns="5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NLP - PreProcessing</a:t>
            </a:r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6" name="Google Shape;86;p13"/>
          <p:cNvPicPr preferRelativeResize="0"/>
          <p:nvPr/>
        </p:nvPicPr>
        <p:blipFill rotWithShape="1">
          <a:blip r:embed="rId3">
            <a:alphaModFix/>
          </a:blip>
          <a:srcRect t="30953"/>
          <a:stretch/>
        </p:blipFill>
        <p:spPr>
          <a:xfrm>
            <a:off x="-75" y="933250"/>
            <a:ext cx="9144001" cy="359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51425" tIns="51425" rIns="51425" bIns="5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Pipeline</a:t>
            </a:r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body" idx="1"/>
          </p:nvPr>
        </p:nvSpPr>
        <p:spPr>
          <a:xfrm>
            <a:off x="533175" y="933250"/>
            <a:ext cx="8077500" cy="32109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" i="1">
                <a:solidFill>
                  <a:srgbClr val="9876A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finisher </a:t>
            </a:r>
            <a:r>
              <a:rPr lang="en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n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Finisher().setInputCols(</a:t>
            </a:r>
            <a:r>
              <a:rPr lang="en" i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lang="en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"stem"</a:t>
            </a:r>
            <a:r>
              <a:rPr lang="en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)).setOutputCols(</a:t>
            </a:r>
            <a:r>
              <a:rPr lang="en" i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lang="en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"tokens"</a:t>
            </a:r>
            <a:r>
              <a:rPr lang="en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.setOutputAsArray(</a:t>
            </a:r>
            <a:r>
              <a:rPr lang="en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).setCleanAnnotations(</a:t>
            </a:r>
            <a:r>
              <a:rPr lang="en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" i="1">
                <a:solidFill>
                  <a:srgbClr val="9876A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nlp_pipeline </a:t>
            </a:r>
            <a:r>
              <a:rPr lang="en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n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Pipeline()</a:t>
            </a:r>
            <a:endParaRPr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.setStages(</a:t>
            </a:r>
            <a:r>
              <a:rPr lang="en" i="1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Array</a:t>
            </a:r>
            <a:r>
              <a:rPr lang="en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i="1">
                <a:solidFill>
                  <a:srgbClr val="9876A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documentAssembler</a:t>
            </a:r>
            <a:r>
              <a:rPr lang="en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i="1">
                <a:solidFill>
                  <a:srgbClr val="9876A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sentence</a:t>
            </a:r>
            <a:r>
              <a:rPr lang="en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i="1">
                <a:solidFill>
                  <a:srgbClr val="9876A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tokenizer</a:t>
            </a:r>
            <a:r>
              <a:rPr lang="en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i="1">
                <a:solidFill>
                  <a:srgbClr val="9876A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normalizer</a:t>
            </a:r>
            <a:r>
              <a:rPr lang="en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i="1">
                <a:solidFill>
                  <a:srgbClr val="9876A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lemmatizer</a:t>
            </a:r>
            <a:r>
              <a:rPr lang="en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i="1">
                <a:solidFill>
                  <a:srgbClr val="9876A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stopWords</a:t>
            </a:r>
            <a:r>
              <a:rPr lang="en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i="1">
                <a:solidFill>
                  <a:srgbClr val="9876A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stemmer</a:t>
            </a:r>
            <a:r>
              <a:rPr lang="en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i="1">
                <a:solidFill>
                  <a:srgbClr val="9876A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finisher</a:t>
            </a:r>
            <a:r>
              <a:rPr lang="en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51425" tIns="51425" rIns="51425" bIns="5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Yake</a:t>
            </a:r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Yake is an :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Unsupervised, Corpus-Independent, Domain and Language-Independent and Single-Document keyword extraction algorithm.</a:t>
            </a:r>
            <a:endParaRPr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51425" tIns="51425" rIns="51425" bIns="5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NLP- LDA</a:t>
            </a:r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529" y="933254"/>
            <a:ext cx="8151150" cy="3573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51425" tIns="51425" rIns="51425" bIns="5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Pipelines- Classification with word and Sentence Embeddings</a:t>
            </a:r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body" idx="1"/>
          </p:nvPr>
        </p:nvSpPr>
        <p:spPr>
          <a:xfrm>
            <a:off x="533175" y="933249"/>
            <a:ext cx="8077500" cy="36225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2" name="Google Shape;11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350" y="663275"/>
            <a:ext cx="8808726" cy="416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51425" tIns="51425" rIns="51425" bIns="5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Word Embeddings</a:t>
            </a:r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749300" lvl="0" indent="-330200" algn="l" rtl="0">
              <a:lnSpc>
                <a:spcPct val="218181"/>
              </a:lnSpc>
              <a:spcBef>
                <a:spcPts val="320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Georgia"/>
              <a:buChar char="●"/>
            </a:pPr>
            <a:r>
              <a:rPr lang="en" sz="1600" b="1" u="sng">
                <a:solidFill>
                  <a:schemeClr val="hlink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  <a:hlinkClick r:id="rId3"/>
              </a:rPr>
              <a:t>GloVe</a:t>
            </a:r>
            <a:r>
              <a:rPr lang="en" sz="1600" b="1">
                <a:solidFill>
                  <a:srgbClr val="292929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 (Global Vectors for Words Representations)</a:t>
            </a:r>
            <a:endParaRPr sz="1600" b="1">
              <a:solidFill>
                <a:srgbClr val="292929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749300" lvl="0" indent="-330200" algn="l" rtl="0">
              <a:lnSpc>
                <a:spcPct val="218181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Georgia"/>
              <a:buChar char="●"/>
            </a:pPr>
            <a:r>
              <a:rPr lang="en" sz="1600" b="1" u="sng">
                <a:solidFill>
                  <a:schemeClr val="hlink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  <a:hlinkClick r:id="rId4"/>
              </a:rPr>
              <a:t>ELMo</a:t>
            </a:r>
            <a:r>
              <a:rPr lang="en" sz="1600">
                <a:solidFill>
                  <a:srgbClr val="292929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 (Embeddings from Language Models)</a:t>
            </a:r>
            <a:endParaRPr sz="1600">
              <a:solidFill>
                <a:srgbClr val="292929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749300" lvl="0" indent="-330200" algn="l" rtl="0">
              <a:lnSpc>
                <a:spcPct val="218181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Georgia"/>
              <a:buChar char="●"/>
            </a:pPr>
            <a:r>
              <a:rPr lang="en" sz="1600" b="1" u="sng">
                <a:solidFill>
                  <a:schemeClr val="hlink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  <a:hlinkClick r:id="rId5"/>
              </a:rPr>
              <a:t>BERT</a:t>
            </a:r>
            <a:r>
              <a:rPr lang="en" sz="1600" b="1">
                <a:solidFill>
                  <a:srgbClr val="292929"/>
                </a:solidFill>
                <a:highlight>
                  <a:srgbClr val="FFFFFF"/>
                </a:highlight>
                <a:latin typeface="Georgia"/>
                <a:ea typeface="Georgia"/>
                <a:cs typeface="Georgia"/>
                <a:sym typeface="Georgia"/>
              </a:rPr>
              <a:t> (Bidirectional Encoder Representations from Transformers)</a:t>
            </a:r>
            <a:endParaRPr sz="1600" b="1">
              <a:solidFill>
                <a:srgbClr val="292929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51425" tIns="51425" rIns="51425" bIns="5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Topics List 1 - Bad</a:t>
            </a:r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5" name="Google Shape;12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550" y="933250"/>
            <a:ext cx="8186127" cy="26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51425" tIns="51425" rIns="51425" bIns="5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 List 2 - Need cleaning </a:t>
            </a:r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2" name="Google Shape;132;p20"/>
          <p:cNvPicPr preferRelativeResize="0"/>
          <p:nvPr/>
        </p:nvPicPr>
        <p:blipFill rotWithShape="1">
          <a:blip r:embed="rId3">
            <a:alphaModFix/>
          </a:blip>
          <a:srcRect r="9592" b="-5797"/>
          <a:stretch/>
        </p:blipFill>
        <p:spPr>
          <a:xfrm>
            <a:off x="351050" y="1070100"/>
            <a:ext cx="8348826" cy="308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51425" tIns="51425" rIns="51425" bIns="5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Topics List 3 - Too Many Topics</a:t>
            </a:r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9" name="Google Shape;13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11721"/>
            <a:ext cx="9144003" cy="4920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51425" tIns="51425" rIns="51425" bIns="5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word Based - Specifics ( better granularity )</a:t>
            </a:r>
            <a:endParaRPr/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6" name="Google Shape;146;p22"/>
          <p:cNvPicPr preferRelativeResize="0"/>
          <p:nvPr/>
        </p:nvPicPr>
        <p:blipFill rotWithShape="1">
          <a:blip r:embed="rId3">
            <a:alphaModFix/>
          </a:blip>
          <a:srcRect r="4852" b="5078"/>
          <a:stretch/>
        </p:blipFill>
        <p:spPr>
          <a:xfrm>
            <a:off x="102800" y="658675"/>
            <a:ext cx="8699950" cy="439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51425" tIns="51425" rIns="51425" bIns="5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score &amp; Match</a:t>
            </a:r>
            <a:endParaRPr/>
          </a:p>
        </p:txBody>
      </p:sp>
      <p:sp>
        <p:nvSpPr>
          <p:cNvPr id="152" name="Google Shape;152;p2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3" name="Google Shape;153;p23"/>
          <p:cNvPicPr preferRelativeResize="0"/>
          <p:nvPr/>
        </p:nvPicPr>
        <p:blipFill rotWithShape="1">
          <a:blip r:embed="rId3">
            <a:alphaModFix/>
          </a:blip>
          <a:srcRect t="3809"/>
          <a:stretch/>
        </p:blipFill>
        <p:spPr>
          <a:xfrm>
            <a:off x="0" y="511725"/>
            <a:ext cx="9144003" cy="4381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51425" tIns="51425" rIns="51425" bIns="5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0" name="Google Shape;160;p24"/>
          <p:cNvPicPr preferRelativeResize="0"/>
          <p:nvPr/>
        </p:nvPicPr>
        <p:blipFill rotWithShape="1">
          <a:blip r:embed="rId3">
            <a:alphaModFix/>
          </a:blip>
          <a:srcRect t="11621"/>
          <a:stretch/>
        </p:blipFill>
        <p:spPr>
          <a:xfrm>
            <a:off x="117550" y="704000"/>
            <a:ext cx="9144003" cy="3350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51425" tIns="51425" rIns="51425" bIns="5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59482"/>
            <a:ext cx="9144003" cy="3424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51425" tIns="51425" rIns="51425" bIns="5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 Model over Hadoop log messages</a:t>
            </a:r>
            <a:endParaRPr/>
          </a:p>
        </p:txBody>
      </p:sp>
      <p:sp>
        <p:nvSpPr>
          <p:cNvPr id="173" name="Google Shape;173;p2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4" name="Google Shape;17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19951"/>
            <a:ext cx="9143999" cy="363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{4B9C0FE3-24F9-204E-9D94-0613F31A8A0B}tf16401369</Template>
  <TotalTime>0</TotalTime>
  <Words>165</Words>
  <Application>Microsoft Macintosh PowerPoint</Application>
  <PresentationFormat>On-screen Show (16:9)</PresentationFormat>
  <Paragraphs>30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Calibri Light</vt:lpstr>
      <vt:lpstr>Rockwell</vt:lpstr>
      <vt:lpstr>Arial</vt:lpstr>
      <vt:lpstr>Georgia</vt:lpstr>
      <vt:lpstr>Calibri</vt:lpstr>
      <vt:lpstr>Wingdings</vt:lpstr>
      <vt:lpstr>Courier New</vt:lpstr>
      <vt:lpstr>Lora</vt:lpstr>
      <vt:lpstr>Atlas</vt:lpstr>
      <vt:lpstr>Error Machine</vt:lpstr>
      <vt:lpstr>Overall Architecture</vt:lpstr>
      <vt:lpstr>Process</vt:lpstr>
      <vt:lpstr>Log Extraction</vt:lpstr>
      <vt:lpstr>Log Notify Extraction</vt:lpstr>
      <vt:lpstr>Log PreProcessing</vt:lpstr>
      <vt:lpstr>Log PreProcessing</vt:lpstr>
      <vt:lpstr>NLP - PreProcessing</vt:lpstr>
      <vt:lpstr>Pipeline</vt:lpstr>
      <vt:lpstr>Yake</vt:lpstr>
      <vt:lpstr>NLP- LDA</vt:lpstr>
      <vt:lpstr>Pipelines- Classification with word and Sentence Embeddings</vt:lpstr>
      <vt:lpstr>Word Embeddings</vt:lpstr>
      <vt:lpstr>Topics List 1 - Bad</vt:lpstr>
      <vt:lpstr>Topic List 2 - Need cleaning </vt:lpstr>
      <vt:lpstr>Topics List 3 - Too Many Topics</vt:lpstr>
      <vt:lpstr>Key word Based - Specifics ( better granularity )</vt:lpstr>
      <vt:lpstr>Classification score &amp; Match</vt:lpstr>
      <vt:lpstr>PowerPoint Presentation</vt:lpstr>
      <vt:lpstr>PowerPoint Presentation</vt:lpstr>
      <vt:lpstr>Topic Model over Hadoop log messages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Error Machine</dc:title>
  <cp:lastModifiedBy>Chandra Sekhar Saripaka</cp:lastModifiedBy>
  <cp:revision>1</cp:revision>
  <dcterms:modified xsi:type="dcterms:W3CDTF">2024-02-05T09:21:05Z</dcterms:modified>
</cp:coreProperties>
</file>