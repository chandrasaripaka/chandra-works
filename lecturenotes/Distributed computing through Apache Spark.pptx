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0"/>
  </p:normalViewPr>
  <p:slideViewPr>
    <p:cSldViewPr snapToGrid="0">
      <p:cViewPr varScale="1">
        <p:scale>
          <a:sx n="158" d="100"/>
          <a:sy n="158" d="100"/>
        </p:scale>
        <p:origin x="56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3dc8a01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23dc8a01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23dc8a013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23dc8a013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3dc8a013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3dc8a013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3dc8a013d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23dc8a013d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3dc8a013d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23dc8a013d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23dc8a013d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23dc8a013d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3dc8a013d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3dc8a013d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23dc8a013d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23dc8a013d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3dc8a013d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3dc8a013d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3dc8a013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3dc8a013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23dc8a013d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23dc8a013d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23dc8a013d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23dc8a013d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3dc8a013d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3dc8a013d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23dc8a013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23dc8a013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3dc8a013d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3dc8a013d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23dc8a013d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23dc8a013d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23dc8a013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23dc8a013d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23dc8a013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23dc8a013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23dc8a013d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23dc8a013d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3dc8a013d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3dc8a013d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3dc8a013d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3dc8a013d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3dc8a013d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23dc8a013d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andard header only">
  <p:cSld name="Content p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23989"/>
          <a:stretch/>
        </p:blipFill>
        <p:spPr>
          <a:xfrm>
            <a:off x="148057" y="128897"/>
            <a:ext cx="318848" cy="343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" y="555089"/>
            <a:ext cx="8858400" cy="0"/>
          </a:xfrm>
          <a:prstGeom prst="straightConnector1">
            <a:avLst/>
          </a:prstGeom>
          <a:noFill/>
          <a:ln w="38100" cap="flat" cmpd="sng">
            <a:solidFill>
              <a:srgbClr val="EE4D2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13"/>
          <p:cNvSpPr/>
          <p:nvPr/>
        </p:nvSpPr>
        <p:spPr>
          <a:xfrm>
            <a:off x="8919892" y="515687"/>
            <a:ext cx="76200" cy="75600"/>
          </a:xfrm>
          <a:prstGeom prst="ellipse">
            <a:avLst/>
          </a:prstGeom>
          <a:solidFill>
            <a:srgbClr val="FF6600"/>
          </a:solidFill>
          <a:ln w="95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8925" tIns="14450" rIns="28925" bIns="1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33180" y="933253"/>
            <a:ext cx="80775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311830" y="4811314"/>
            <a:ext cx="6663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475" tIns="41025" rIns="67475" bIns="33725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800"/>
              <a:buFont typeface="Times New Roman"/>
              <a:buNone/>
            </a:pPr>
            <a:r>
              <a:rPr lang="en" sz="8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park.apache.org/docs/latest/spark-standalone.htm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spark.apache.org/docs/latest/running-on-kubernetes.html" TargetMode="External"/><Relationship Id="rId5" Type="http://schemas.openxmlformats.org/officeDocument/2006/relationships/hyperlink" Target="http://spark.apache.org/docs/latest/running-on-yarn.html" TargetMode="External"/><Relationship Id="rId4" Type="http://schemas.openxmlformats.org/officeDocument/2006/relationships/hyperlink" Target="http://spark.apache.org/docs/latest/running-on-mesos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submitting-applications.html#master-url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Distributed computing through Apache Spark - An Example with Spark, SparkML and SparkNLP.</a:t>
            </a:r>
            <a:endParaRPr sz="3600"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Chandra </a:t>
            </a:r>
            <a:r>
              <a:rPr lang="en"/>
              <a:t>Sekhar Saripaka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Hows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Basic Technical Analysis ( Know your data )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Exploratory Data Analysis ( EDA - If needed.)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Deciphering your data. ( Know your columns and rows )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Pre-Processing ( Drop all Na’s , Nulls and Junk Values which dont make sense )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Train / Test 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Inference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Summary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Deployment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Scaling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Results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Visualization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725" y="2243775"/>
            <a:ext cx="3019425" cy="275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Basic understanding of spark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Distributed computing Concepts in Spark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Hands on with some spark read and write examples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Introduction to ML in Spark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Scikit-Learn scaling with Spark.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Introduction to SparkNLP and MLPipelines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Logistic Regression with Count and TFIDF vectorizer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Naive Bayes with Count and TFIDF vectorizer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Apache Spark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Fast and Expressive Cluster Computing Engine Compatible with Apache Hadoop , Object Store, S3 and Many more file systems.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Up to 10× faster on disk, 100× in memory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2-5× less code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Efficient &amp; Usable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General execution graphs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In-memory storage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Rich APIs in Java, Scala, Python, R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Interactive shell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800"/>
              <a:buChar char="●"/>
            </a:pPr>
            <a:r>
              <a:rPr lang="en">
                <a:solidFill>
                  <a:srgbClr val="444444"/>
                </a:solidFill>
                <a:highlight>
                  <a:srgbClr val="FFFFFF"/>
                </a:highlight>
              </a:rPr>
              <a:t>Generalize the map/reduce framework</a:t>
            </a:r>
            <a:endParaRPr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How to Setup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Locally - Using local[*]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remotely - on AWS , Azure, GCP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Download spark latest version - with or without Hadoop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275" y="2632950"/>
            <a:ext cx="7137750" cy="19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How to Run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Spark-Shell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Spark-SQL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Pyspark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Jupyter Note-book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Spark-Submit to package as jar and run.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JobServer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$ spark-shell --packages com.johnsnowlabs.nlp:spark-nlp_2.12:3.4.2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$ pyspark --packages com.johnsnowlabs.nlp:spark-nlp_2.12:3.4.2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$ spark-submit --packages com.johnsnowlabs.nlp:spark-nlp_2.12:3.4.2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$ spark-shell --jars spark-nlp-assembly-3.4.2.jar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4784975" y="445025"/>
            <a:ext cx="42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Many Ways to Run.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pyspark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# install pyspark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pip install --upgrade pyspark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# get pyspark help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pyspark --help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# invoke pyspark interactive shell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pyspark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# or through python or ipython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ipython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292929"/>
                </a:solidFill>
                <a:highlight>
                  <a:srgbClr val="F2F2F2"/>
                </a:highlight>
              </a:rPr>
              <a:t>&gt;&gt; import pyspark</a:t>
            </a: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00">
              <a:solidFill>
                <a:srgbClr val="292929"/>
              </a:solidFill>
              <a:highlight>
                <a:srgbClr val="F2F2F2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Clustering &amp; Distributed Processing</a:t>
            </a:r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90909"/>
              </a:lnSpc>
              <a:spcBef>
                <a:spcPts val="320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Standalone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— a simple cluster manager included with Spark that makes it easy to set up a cluster.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Apache Mesos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— a general cluster manager that can also run Hadoop MapReduce and service application.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Hadoop YARN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— the resource manager in Hadoop 2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Kubernetes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— an open-source system for automating deployment, scaling, and management of containerized applications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1152475"/>
            <a:ext cx="3934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between Spark and Pandas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rgbClr val="292929"/>
                </a:solidFill>
                <a:highlight>
                  <a:srgbClr val="FFFFFF"/>
                </a:highlight>
              </a:rPr>
              <a:t>Spark</a:t>
            </a:r>
            <a:endParaRPr sz="1500" i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500"/>
              <a:buChar char="●"/>
            </a:pPr>
            <a:r>
              <a:rPr lang="en" sz="1500" i="1">
                <a:solidFill>
                  <a:srgbClr val="292929"/>
                </a:solidFill>
                <a:highlight>
                  <a:srgbClr val="FFFFFF"/>
                </a:highlight>
              </a:rPr>
              <a:t>Lazy Execution</a:t>
            </a:r>
            <a:endParaRPr sz="1500" i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Char char="●"/>
            </a:pPr>
            <a:r>
              <a:rPr lang="en" sz="1500" i="1">
                <a:solidFill>
                  <a:srgbClr val="292929"/>
                </a:solidFill>
                <a:highlight>
                  <a:srgbClr val="FFFFFF"/>
                </a:highlight>
              </a:rPr>
              <a:t>Spark avoid pulling the full data frame into memory</a:t>
            </a:r>
            <a:endParaRPr sz="1500" i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Char char="●"/>
            </a:pPr>
            <a:r>
              <a:rPr lang="en" sz="1500" i="1">
                <a:solidFill>
                  <a:srgbClr val="292929"/>
                </a:solidFill>
                <a:highlight>
                  <a:srgbClr val="FFFFFF"/>
                </a:highlight>
              </a:rPr>
              <a:t>Compatible with large datasets.</a:t>
            </a:r>
            <a:endParaRPr sz="1500" i="1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Char char="●"/>
            </a:pPr>
            <a:r>
              <a:rPr lang="en" sz="1500" i="1">
                <a:solidFill>
                  <a:srgbClr val="292929"/>
                </a:solidFill>
                <a:highlight>
                  <a:srgbClr val="FFFFFF"/>
                </a:highlight>
              </a:rPr>
              <a:t>Spark does Parallel processing by taking advantage of partitions	</a:t>
            </a:r>
            <a:endParaRPr sz="1500" i="1">
              <a:solidFill>
                <a:srgbClr val="292929"/>
              </a:solidFill>
              <a:highlight>
                <a:srgbClr val="FFFFFF"/>
              </a:highlight>
            </a:endParaRPr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Pandas</a:t>
            </a:r>
            <a:endParaRPr i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i="1">
                <a:solidFill>
                  <a:schemeClr val="dk1"/>
                </a:solidFill>
              </a:rPr>
              <a:t>Eager Execution</a:t>
            </a:r>
            <a:endParaRPr i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i="1">
                <a:solidFill>
                  <a:schemeClr val="dk1"/>
                </a:solidFill>
              </a:rPr>
              <a:t>Pandas operate by fully pulling the dataframe into the memory.</a:t>
            </a:r>
            <a:endParaRPr i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i="1">
                <a:solidFill>
                  <a:schemeClr val="dk1"/>
                </a:solidFill>
              </a:rPr>
              <a:t>Not Compatible with large datasets.</a:t>
            </a:r>
            <a:endParaRPr i="1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i="1">
                <a:solidFill>
                  <a:schemeClr val="dk1"/>
                </a:solidFill>
              </a:rPr>
              <a:t>Pandas won't do the parallelization , executed in the same memory.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spark-submit</a:t>
            </a: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845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./bin/spark-submit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--class &lt;main-class&gt;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--master &lt;master-url&gt;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--deploy-mode &lt;deploy-mode&gt;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--conf &lt;key&gt;=&lt;value&gt;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... # other options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&lt;application-jar&gt; \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[application-arguments]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body" idx="2"/>
          </p:nvPr>
        </p:nvSpPr>
        <p:spPr>
          <a:xfrm>
            <a:off x="3606275" y="1152475"/>
            <a:ext cx="522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49300" lvl="0" indent="-304800" algn="l" rtl="0">
              <a:lnSpc>
                <a:spcPct val="190909"/>
              </a:lnSpc>
              <a:spcBef>
                <a:spcPts val="320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--class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The entry point for your application (e.g. </a:t>
            </a: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org.apache.spark.examples.SparkPi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7493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--master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The </a:t>
            </a:r>
            <a:r>
              <a:rPr lang="en" sz="12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master URL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for the cluster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7493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--deploy-node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cluster or client ( default )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7493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--conf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Spark configuration property in </a:t>
            </a: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"key=value"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format.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7493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application-jar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Path to a bundled jar , For instance, an </a:t>
            </a: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hdfs://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path or a </a:t>
            </a: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file://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 path that is present on all nodes.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749300" lvl="0" indent="-304800" algn="l" rtl="0">
              <a:lnSpc>
                <a:spcPct val="190909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292929"/>
                </a:solidFill>
                <a:highlight>
                  <a:srgbClr val="F2F2F2"/>
                </a:highlight>
              </a:rPr>
              <a:t>application-arguments</a:t>
            </a:r>
            <a:r>
              <a:rPr lang="en" sz="1200">
                <a:solidFill>
                  <a:srgbClr val="292929"/>
                </a:solidFill>
                <a:highlight>
                  <a:srgbClr val="FFFFFF"/>
                </a:highlight>
              </a:rPr>
              <a:t>: Arguments passed to the main method of your main class, if any</a:t>
            </a:r>
            <a:endParaRPr sz="1200">
              <a:solidFill>
                <a:srgbClr val="292929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Blocks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75" y="1017725"/>
            <a:ext cx="827830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415475" y="4545225"/>
            <a:ext cx="841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Ref: </a:t>
            </a:r>
            <a:r>
              <a:rPr lang="en" sz="800">
                <a:solidFill>
                  <a:schemeClr val="dk2"/>
                </a:solidFill>
              </a:rPr>
              <a:t>https://towardsdatascience.com/apache-spark-a-conceptual-orientation-e326f8c57a64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A data Ecosystem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50" y="1071925"/>
            <a:ext cx="8832300" cy="395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129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- 3.0 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795150"/>
            <a:ext cx="8520600" cy="3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5150"/>
            <a:ext cx="9144000" cy="40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DO SOME CODE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ML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98500" lvl="0" indent="-3048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200"/>
              <a:buFont typeface="Roboto"/>
              <a:buChar char="●"/>
            </a:pPr>
            <a:r>
              <a:rPr lang="en" sz="1200" b="1" u="sng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ML Algorithms</a:t>
            </a:r>
            <a:r>
              <a:rPr lang="en" sz="1200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: common learning algorithms such as </a:t>
            </a:r>
            <a:r>
              <a:rPr lang="en" sz="1200" b="1" i="1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classification, regression, clustering, and collaborative filtering</a:t>
            </a:r>
            <a:endParaRPr sz="1200" b="1" i="1">
              <a:solidFill>
                <a:srgbClr val="1D1F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98500" lvl="0" indent="-3048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200"/>
              <a:buFont typeface="Roboto"/>
              <a:buChar char="●"/>
            </a:pPr>
            <a:r>
              <a:rPr lang="en" sz="1200" b="1" u="sng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Featurization</a:t>
            </a:r>
            <a:r>
              <a:rPr lang="en" sz="1200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2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feature extraction, transformation, dimensionality reduction, and selection</a:t>
            </a:r>
            <a:endParaRPr sz="1200"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98500" lvl="0" indent="-3048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200"/>
              <a:buFont typeface="Roboto"/>
              <a:buChar char="●"/>
            </a:pPr>
            <a:r>
              <a:rPr lang="en" sz="1200" b="1" u="sng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Pipelines</a:t>
            </a:r>
            <a:r>
              <a:rPr lang="en" sz="1200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200" i="1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tools for constructing, evaluating, and tuning ML Pipelines</a:t>
            </a:r>
            <a:endParaRPr sz="1200" i="1">
              <a:solidFill>
                <a:srgbClr val="1D1F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98500" lvl="0" indent="-3048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200"/>
              <a:buFont typeface="Roboto"/>
              <a:buChar char="●"/>
            </a:pPr>
            <a:r>
              <a:rPr lang="en" sz="1200" b="1" u="sng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Persistence</a:t>
            </a:r>
            <a:r>
              <a:rPr lang="en" sz="1200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200" i="1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saving and load algorithms, models, and Pipelines</a:t>
            </a:r>
            <a:endParaRPr sz="1200" i="1">
              <a:solidFill>
                <a:srgbClr val="1D1F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98500" lvl="0" indent="-304800" algn="l" rtl="0">
              <a:spcBef>
                <a:spcPts val="0"/>
              </a:spcBef>
              <a:spcAft>
                <a:spcPts val="0"/>
              </a:spcAft>
              <a:buClr>
                <a:srgbClr val="1D1F22"/>
              </a:buClr>
              <a:buSzPts val="1200"/>
              <a:buFont typeface="Roboto"/>
              <a:buChar char="●"/>
            </a:pPr>
            <a:r>
              <a:rPr lang="en" sz="1200" b="1" u="sng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Utilities</a:t>
            </a:r>
            <a:r>
              <a:rPr lang="en" sz="1200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200" i="1">
                <a:solidFill>
                  <a:srgbClr val="1D1F22"/>
                </a:solidFill>
                <a:latin typeface="Roboto"/>
                <a:ea typeface="Roboto"/>
                <a:cs typeface="Roboto"/>
                <a:sym typeface="Roboto"/>
              </a:rPr>
              <a:t>linear algebra, statistics, data handling, etc.</a:t>
            </a:r>
            <a:endParaRPr sz="1200" i="1">
              <a:solidFill>
                <a:srgbClr val="1D1F2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6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49" y="1203600"/>
            <a:ext cx="394092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SkLearn with Apache Spark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sklearn </a:t>
            </a: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grid_search, datasets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sklearn.ensemble </a:t>
            </a: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RandomForestClassifier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800" b="1">
                <a:solidFill>
                  <a:srgbClr val="333333"/>
                </a:solidFill>
                <a:highlight>
                  <a:srgbClr val="F7F7F7"/>
                </a:highlight>
              </a:rPr>
              <a:t> sklearn.grid_search </a:t>
            </a:r>
            <a:r>
              <a:rPr lang="en" sz="1800" b="1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800" b="1">
                <a:solidFill>
                  <a:srgbClr val="333333"/>
                </a:solidFill>
                <a:highlight>
                  <a:srgbClr val="F7F7F7"/>
                </a:highlight>
              </a:rPr>
              <a:t> </a:t>
            </a:r>
            <a:r>
              <a:rPr lang="en" sz="1800" b="1">
                <a:solidFill>
                  <a:srgbClr val="0086B3"/>
                </a:solidFill>
                <a:highlight>
                  <a:srgbClr val="F7F7F7"/>
                </a:highlight>
              </a:rPr>
              <a:t>GridSearchCV</a:t>
            </a:r>
            <a:endParaRPr sz="1800" b="1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digits = datasets.load_digits()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X, y = digits.data, digits.target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param_grid = {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"max_depth"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None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"max_features"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"min_samples_split"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"min_samples_leaf"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"bootstrap"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True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A71D5D"/>
                </a:solidFill>
                <a:highlight>
                  <a:srgbClr val="F7F7F7"/>
                </a:highlight>
              </a:rPr>
              <a:t>False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"criterion"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"gini"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"entropy"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800">
                <a:solidFill>
                  <a:srgbClr val="183691"/>
                </a:solidFill>
                <a:highlight>
                  <a:srgbClr val="F7F7F7"/>
                </a:highlight>
              </a:rPr>
              <a:t>"n_estimators"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20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40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80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]}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gs = grid_search.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GridSearchCV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(</a:t>
            </a:r>
            <a:r>
              <a:rPr lang="en" sz="1800">
                <a:solidFill>
                  <a:srgbClr val="0086B3"/>
                </a:solidFill>
                <a:highlight>
                  <a:srgbClr val="F7F7F7"/>
                </a:highlight>
              </a:rPr>
              <a:t>RandomForestClassifier</a:t>
            </a: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(), 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param_grid=param_grid)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>
                <a:solidFill>
                  <a:srgbClr val="333333"/>
                </a:solidFill>
                <a:highlight>
                  <a:srgbClr val="F7F7F7"/>
                </a:highlight>
              </a:rPr>
              <a:t>gs.fit(X, y)</a:t>
            </a:r>
            <a:endParaRPr sz="18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2"/>
          </p:nvPr>
        </p:nvSpPr>
        <p:spPr>
          <a:xfrm>
            <a:off x="4412275" y="1017725"/>
            <a:ext cx="4419900" cy="35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sklearn </a:t>
            </a: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grid_search, datasets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sklearn.ensemble </a:t>
            </a: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RandomForestClassifier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A71D5D"/>
                </a:solidFill>
                <a:highlight>
                  <a:srgbClr val="F7F7F7"/>
                </a:highlight>
              </a:rPr>
              <a:t>from</a:t>
            </a:r>
            <a:r>
              <a:rPr lang="en" sz="1100" b="1">
                <a:solidFill>
                  <a:srgbClr val="333333"/>
                </a:solidFill>
                <a:highlight>
                  <a:srgbClr val="F7F7F7"/>
                </a:highlight>
              </a:rPr>
              <a:t> spark_sklearn </a:t>
            </a:r>
            <a:r>
              <a:rPr lang="en" sz="1100" b="1">
                <a:solidFill>
                  <a:srgbClr val="A71D5D"/>
                </a:solidFill>
                <a:highlight>
                  <a:srgbClr val="F7F7F7"/>
                </a:highlight>
              </a:rPr>
              <a:t>import</a:t>
            </a:r>
            <a:r>
              <a:rPr lang="en" sz="1100" b="1">
                <a:solidFill>
                  <a:srgbClr val="333333"/>
                </a:solidFill>
                <a:highlight>
                  <a:srgbClr val="F7F7F7"/>
                </a:highlight>
              </a:rPr>
              <a:t> </a:t>
            </a:r>
            <a:r>
              <a:rPr lang="en" sz="1100" b="1">
                <a:solidFill>
                  <a:srgbClr val="0086B3"/>
                </a:solidFill>
                <a:highlight>
                  <a:srgbClr val="F7F7F7"/>
                </a:highlight>
              </a:rPr>
              <a:t>GridSearchCV</a:t>
            </a:r>
            <a:endParaRPr sz="1100" b="1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digits = datasets.load_digits()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X, y = digits.data, digits.target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param_grid = {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"max_depth"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None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"max_features"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"min_samples_split"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"min_samples_leaf"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3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"bootstrap"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True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A71D5D"/>
                </a:solidFill>
                <a:highlight>
                  <a:srgbClr val="F7F7F7"/>
                </a:highlight>
              </a:rPr>
              <a:t>False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"criterion"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"gini"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"entropy"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],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              </a:t>
            </a:r>
            <a:r>
              <a:rPr lang="en" sz="1100">
                <a:solidFill>
                  <a:srgbClr val="183691"/>
                </a:solidFill>
                <a:highlight>
                  <a:srgbClr val="F7F7F7"/>
                </a:highlight>
              </a:rPr>
              <a:t>"n_estimators"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: [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10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20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40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, 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80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]}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gs = grid_search.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GridSearchCV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(</a:t>
            </a:r>
            <a:r>
              <a:rPr lang="en" sz="1100">
                <a:solidFill>
                  <a:srgbClr val="0086B3"/>
                </a:solidFill>
                <a:highlight>
                  <a:srgbClr val="F7F7F7"/>
                </a:highlight>
              </a:rPr>
              <a:t>RandomForestClassifier</a:t>
            </a: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(), 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param_grid=param_grid)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3333"/>
                </a:solidFill>
                <a:highlight>
                  <a:srgbClr val="F7F7F7"/>
                </a:highlight>
              </a:rPr>
              <a:t>gs.fit(X, y)</a:t>
            </a:r>
            <a:endParaRPr sz="1100">
              <a:solidFill>
                <a:srgbClr val="333333"/>
              </a:solidFill>
              <a:highlight>
                <a:srgbClr val="F7F7F7"/>
              </a:highlight>
            </a:endParaRPr>
          </a:p>
          <a:p>
            <a:pPr marL="0" lvl="0" indent="0" algn="l" rtl="0">
              <a:lnSpc>
                <a:spcPct val="50000"/>
              </a:lnSpc>
              <a:spcBef>
                <a:spcPts val="1100"/>
              </a:spcBef>
              <a:spcAft>
                <a:spcPts val="1100"/>
              </a:spcAft>
              <a:buNone/>
            </a:pP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Joblib Apache Spark Backend</a:t>
            </a:r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from sklearn.utils import parallel_backend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sklearn.model_selection import 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cross_val_score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from sklearn import datasets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from sklearn import svm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from joblibspark import register_spark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register_spark() # register spark backend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iris = datasets.load_iris()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clf = svm.SVC(kernel='linear', C=1)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with parallel_backend('spark', n_jobs=3):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  scores = cross_val_score(clf, iris.data, iris.target, cv=5)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print(scores)</a:t>
            </a:r>
            <a:endParaRPr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from sklearn.feature_extraction import 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FeatureHasher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h = FeatureHasher(n_features=10)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with parallel_backend(</a:t>
            </a:r>
            <a:r>
              <a:rPr lang="en" sz="1150" b="1"/>
              <a:t>'spark'</a:t>
            </a:r>
            <a:r>
              <a:rPr lang="en" sz="1150"/>
              <a:t>, n_jobs=3):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rgbClr val="EE4D2D"/>
                </a:solidFill>
              </a:rPr>
              <a:t>    # This won't run parallelly on spark, it will still run locally.</a:t>
            </a:r>
            <a:endParaRPr sz="1150">
              <a:solidFill>
                <a:srgbClr val="EE4D2D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    h.transform(...)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from sklearn import linear_model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regr = linear_model.LinearRegression()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regr.fit(X_train, y_train)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with parallel_backend(</a:t>
            </a:r>
            <a:r>
              <a:rPr lang="en" sz="1150" b="1"/>
              <a:t>'spark'</a:t>
            </a:r>
            <a:r>
              <a:rPr lang="en" sz="1150"/>
              <a:t>, n_jobs=3):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E4D2D"/>
                </a:solidFill>
              </a:rPr>
              <a:t>    # This won't run parallelly on spark, it will still run locally.</a:t>
            </a:r>
            <a:endParaRPr sz="1150">
              <a:solidFill>
                <a:srgbClr val="EE4D2D"/>
              </a:solidFill>
            </a:endParaRPr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/>
              <a:t>    regr.predict(diabetes_X_test)</a:t>
            </a:r>
            <a:endParaRPr sz="1150"/>
          </a:p>
          <a:p>
            <a:pPr marL="0" lvl="0" indent="0" algn="l" rtl="0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62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Spark NLP Features</a:t>
            </a:r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850" y="678575"/>
            <a:ext cx="8522299" cy="42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Pipelines- Classification with word and Sentence Embeddings</a:t>
            </a:r>
            <a:endParaRPr sz="1800"/>
          </a:p>
        </p:txBody>
      </p:sp>
      <p:sp>
        <p:nvSpPr>
          <p:cNvPr id="187" name="Google Shape;187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50" y="663275"/>
            <a:ext cx="8808726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>
            <a:spLocks noGrp="1"/>
          </p:cNvSpPr>
          <p:nvPr>
            <p:ph type="title"/>
          </p:nvPr>
        </p:nvSpPr>
        <p:spPr>
          <a:xfrm>
            <a:off x="95675" y="112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</a:rPr>
              <a:t>20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195" name="Google Shape;195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75" y="748800"/>
            <a:ext cx="8925476" cy="42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Let’s Code.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Bayes</a:t>
            </a:r>
            <a:endParaRPr/>
          </a:p>
        </p:txBody>
      </p:sp>
      <p:sp>
        <p:nvSpPr>
          <p:cNvPr id="208" name="Google Shape;20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Let’s Code.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</Words>
  <Application>Microsoft Macintosh PowerPoint</Application>
  <PresentationFormat>On-screen Show (16:9)</PresentationFormat>
  <Paragraphs>169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Roboto</vt:lpstr>
      <vt:lpstr>Times New Roman</vt:lpstr>
      <vt:lpstr>Georgia</vt:lpstr>
      <vt:lpstr>Calibri</vt:lpstr>
      <vt:lpstr>Simple Light</vt:lpstr>
      <vt:lpstr>Distributed computing through Apache Spark - An Example with Spark, SparkML and SparkNLP.</vt:lpstr>
      <vt:lpstr>Know Hows</vt:lpstr>
      <vt:lpstr>Approach</vt:lpstr>
      <vt:lpstr>Apache Spark</vt:lpstr>
      <vt:lpstr>Spark - How to Setup</vt:lpstr>
      <vt:lpstr>Spark - How to Run</vt:lpstr>
      <vt:lpstr>pyspark</vt:lpstr>
      <vt:lpstr>Spark Clustering &amp; Distributed Processing</vt:lpstr>
      <vt:lpstr>Differences between Spark and Pandas</vt:lpstr>
      <vt:lpstr>spark-submit</vt:lpstr>
      <vt:lpstr>Spark Blocks</vt:lpstr>
      <vt:lpstr>Spark - A data Ecosystem</vt:lpstr>
      <vt:lpstr>Spark - 3.0 </vt:lpstr>
      <vt:lpstr>LET’S DO SOME CODE</vt:lpstr>
      <vt:lpstr>Spark ML</vt:lpstr>
      <vt:lpstr>SkLearn with Apache Spark</vt:lpstr>
      <vt:lpstr>Joblib Apache Spark Backend</vt:lpstr>
      <vt:lpstr>Spark NLP Features</vt:lpstr>
      <vt:lpstr>Pipelines- Classification with word and Sentence Embeddings</vt:lpstr>
      <vt:lpstr>Pipeline</vt:lpstr>
      <vt:lpstr>Logistic Regression</vt:lpstr>
      <vt:lpstr>Naive Bayes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computing through Apache Spark - An Example with Spark, SparkML and SparkNLP.</dc:title>
  <cp:lastModifiedBy>Chandra Sekhar Saripaka</cp:lastModifiedBy>
  <cp:revision>1</cp:revision>
  <dcterms:modified xsi:type="dcterms:W3CDTF">2024-02-05T09:15:49Z</dcterms:modified>
</cp:coreProperties>
</file>